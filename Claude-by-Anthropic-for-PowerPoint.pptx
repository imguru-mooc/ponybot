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3" r:id="rId5"/>
    <p:sldId id="272" r:id="rId6"/>
    <p:sldId id="271" r:id="rId7"/>
    <p:sldId id="275" r:id="rId8"/>
    <p:sldId id="277" r:id="rId9"/>
    <p:sldId id="279" r:id="rId10"/>
    <p:sldId id="283" r:id="rId11"/>
    <p:sldId id="291" r:id="rId12"/>
    <p:sldId id="294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ko-KR" sz="1600" b="1"/>
              <a:t>시간 복잡도 증가율 비교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O(1)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B9A-48A2-8437-6D8994A159B8}"/>
            </c:ext>
          </c:extLst>
        </c:ser>
        <c:ser>
          <c:idx val="1"/>
          <c:order val="1"/>
          <c:tx>
            <c:v>O(log n)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2.6</c:v>
              </c:pt>
              <c:pt idx="4">
                <c:v>3</c:v>
              </c:pt>
              <c:pt idx="5">
                <c:v>3.3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5B9A-48A2-8437-6D8994A159B8}"/>
            </c:ext>
          </c:extLst>
        </c:ser>
        <c:ser>
          <c:idx val="2"/>
          <c:order val="2"/>
          <c:tx>
            <c:v>O(n)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5B9A-48A2-8437-6D8994A159B8}"/>
            </c:ext>
          </c:extLst>
        </c:ser>
        <c:ser>
          <c:idx val="3"/>
          <c:order val="3"/>
          <c:tx>
            <c:v>O(n log n)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8</c:v>
              </c:pt>
              <c:pt idx="3">
                <c:v>15.5</c:v>
              </c:pt>
              <c:pt idx="4">
                <c:v>24</c:v>
              </c:pt>
              <c:pt idx="5">
                <c:v>33.200000000000003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5B9A-48A2-8437-6D8994A159B8}"/>
            </c:ext>
          </c:extLst>
        </c:ser>
        <c:ser>
          <c:idx val="4"/>
          <c:order val="4"/>
          <c:tx>
            <c:v>O(n²)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4</c:v>
              </c:pt>
              <c:pt idx="2">
                <c:v>16</c:v>
              </c:pt>
              <c:pt idx="3">
                <c:v>36</c:v>
              </c:pt>
              <c:pt idx="4">
                <c:v>64</c:v>
              </c:pt>
              <c:pt idx="5">
                <c:v>100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4-5B9A-48A2-8437-6D8994A15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ko-KR" sz="1400"/>
                  <a:t>입력 크기 n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Keyline"/>
          <p:cNvSpPr/>
          <p:nvPr/>
        </p:nvSpPr>
        <p:spPr>
          <a:xfrm>
            <a:off x="0" y="6675120"/>
            <a:ext cx="12192000" cy="45720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2A3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148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7E9FB-1ADB-ED6E-7224-45E40DD6E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1600"/>
            <a:ext cx="9144000" cy="1143000"/>
          </a:xfrm>
        </p:spPr>
        <p:txBody>
          <a:bodyPr/>
          <a:lstStyle/>
          <a:p>
            <a:pPr algn="ctr"/>
            <a:r>
              <a:rPr lang="ko-KR" sz="4400" b="1" dirty="0"/>
              <a:t>자료구조와 알고리즘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34968A-1E16-2849-B45F-BA1932C87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7000"/>
            <a:ext cx="9144000" cy="558800"/>
          </a:xfrm>
        </p:spPr>
        <p:txBody>
          <a:bodyPr/>
          <a:lstStyle/>
          <a:p>
            <a:pPr algn="ctr"/>
            <a:r>
              <a:rPr lang="en-US" sz="2200" spc="200" dirty="0">
                <a:solidFill>
                  <a:srgbClr val="2F6690"/>
                </a:solidFill>
              </a:rPr>
              <a:t>Data Structures &amp; Algorithms</a:t>
            </a:r>
          </a:p>
        </p:txBody>
      </p:sp>
      <p:sp>
        <p:nvSpPr>
          <p:cNvPr id="101" name="TreeEdge101"/>
          <p:cNvSpPr/>
          <p:nvPr/>
        </p:nvSpPr>
        <p:spPr>
          <a:xfrm flipH="1">
            <a:off x="5511800" y="1371600"/>
            <a:ext cx="533400" cy="533400"/>
          </a:xfrm>
          <a:prstGeom prst="line">
            <a:avLst/>
          </a:prstGeom>
          <a:ln w="19050">
            <a:solidFill>
              <a:srgbClr val="9AB0C4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2" name="TreeEdge102"/>
          <p:cNvSpPr/>
          <p:nvPr/>
        </p:nvSpPr>
        <p:spPr>
          <a:xfrm>
            <a:off x="6146800" y="1371600"/>
            <a:ext cx="533400" cy="533400"/>
          </a:xfrm>
          <a:prstGeom prst="line">
            <a:avLst/>
          </a:prstGeom>
          <a:ln w="19050">
            <a:solidFill>
              <a:srgbClr val="9AB0C4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3" name="TreeNode103"/>
          <p:cNvSpPr/>
          <p:nvPr/>
        </p:nvSpPr>
        <p:spPr>
          <a:xfrm>
            <a:off x="5930900" y="1130300"/>
            <a:ext cx="330200" cy="330200"/>
          </a:xfrm>
          <a:prstGeom prst="ellipse">
            <a:avLst/>
          </a:prstGeom>
          <a:solidFill>
            <a:srgbClr val="2F669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4" name="TreeNode104"/>
          <p:cNvSpPr/>
          <p:nvPr/>
        </p:nvSpPr>
        <p:spPr>
          <a:xfrm>
            <a:off x="5270500" y="1866900"/>
            <a:ext cx="279400" cy="279400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5" name="TreeNode105"/>
          <p:cNvSpPr/>
          <p:nvPr/>
        </p:nvSpPr>
        <p:spPr>
          <a:xfrm>
            <a:off x="6642100" y="1866900"/>
            <a:ext cx="279400" cy="279400"/>
          </a:xfrm>
          <a:prstGeom prst="ellipse">
            <a:avLst/>
          </a:prstGeom>
          <a:solidFill>
            <a:srgbClr val="D08C6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0" name="CourseInfo"/>
          <p:cNvSpPr txBox="1"/>
          <p:nvPr/>
        </p:nvSpPr>
        <p:spPr>
          <a:xfrm>
            <a:off x="1524000" y="5689600"/>
            <a:ext cx="9144000" cy="355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담당교수 ○○○  |  20XX년 X학기</a:t>
            </a:r>
          </a:p>
        </p:txBody>
      </p:sp>
    </p:spTree>
    <p:extLst>
      <p:ext uri="{BB962C8B-B14F-4D97-AF65-F5344CB8AC3E}">
        <p14:creationId xmlns:p14="http://schemas.microsoft.com/office/powerpoint/2010/main" val="3882898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915A7-3898-7803-5D5B-FD83DD7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sz="3200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F70756-D447-7DCA-B664-C0FE49424C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01</a:t>
            </a:r>
            <a:r>
              <a:rPr lang="ko-KR" sz="1800" dirty="0">
                <a:solidFill>
                  <a:srgbClr val="31485E"/>
                </a:solidFill>
              </a:rPr>
              <a:t>  자료구조 개요와 알고리즘 분석 (Big-O)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02</a:t>
            </a:r>
            <a:r>
              <a:rPr lang="ko-KR" sz="1800" dirty="0">
                <a:solidFill>
                  <a:srgbClr val="31485E"/>
                </a:solidFill>
              </a:rPr>
              <a:t>  배열과 연결 리스트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03</a:t>
            </a:r>
            <a:r>
              <a:rPr lang="ko-KR" sz="1800" dirty="0">
                <a:solidFill>
                  <a:srgbClr val="31485E"/>
                </a:solidFill>
              </a:rPr>
              <a:t>  스택과 큐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04</a:t>
            </a:r>
            <a:r>
              <a:rPr lang="ko-KR" sz="1800" dirty="0">
                <a:solidFill>
                  <a:srgbClr val="31485E"/>
                </a:solidFill>
              </a:rPr>
              <a:t>  재귀 (Recursion)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05</a:t>
            </a:r>
            <a:r>
              <a:rPr lang="ko-KR" sz="1800" dirty="0">
                <a:solidFill>
                  <a:srgbClr val="31485E"/>
                </a:solidFill>
              </a:rPr>
              <a:t>  트리와 이진 탐색 트리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10BB85-B1A7-EB20-0C4B-FED39CE9B0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06</a:t>
            </a:r>
            <a:r>
              <a:rPr lang="ko-KR" sz="1800" dirty="0">
                <a:solidFill>
                  <a:srgbClr val="31485E"/>
                </a:solidFill>
              </a:rPr>
              <a:t>  힙과 우선순위 큐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07</a:t>
            </a:r>
            <a:r>
              <a:rPr lang="ko-KR" sz="1800" dirty="0">
                <a:solidFill>
                  <a:srgbClr val="31485E"/>
                </a:solidFill>
              </a:rPr>
              <a:t>  해시 테이블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08</a:t>
            </a:r>
            <a:r>
              <a:rPr lang="ko-KR" sz="1800" dirty="0">
                <a:solidFill>
                  <a:srgbClr val="31485E"/>
                </a:solidFill>
              </a:rPr>
              <a:t>  그래프와 탐색 (BFS / DFS)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09</a:t>
            </a:r>
            <a:r>
              <a:rPr lang="ko-KR" sz="1800" dirty="0">
                <a:solidFill>
                  <a:srgbClr val="31485E"/>
                </a:solidFill>
              </a:rPr>
              <a:t>  정렬 알고리즘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10</a:t>
            </a:r>
            <a:r>
              <a:rPr lang="ko-KR" sz="1800" dirty="0">
                <a:solidFill>
                  <a:srgbClr val="31485E"/>
                </a:solidFill>
              </a:rPr>
              <a:t>  알고리즘 설계 기법 (탐욕법, DP)</a:t>
            </a:r>
          </a:p>
        </p:txBody>
      </p:sp>
    </p:spTree>
    <p:extLst>
      <p:ext uri="{BB962C8B-B14F-4D97-AF65-F5344CB8AC3E}">
        <p14:creationId xmlns:p14="http://schemas.microsoft.com/office/powerpoint/2010/main" val="115117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F52E4-8A38-BF3F-238C-AC52C9AB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sz="3200" b="1" dirty="0"/>
              <a:t>강의 개요</a:t>
            </a:r>
          </a:p>
        </p:txBody>
      </p:sp>
      <p:sp>
        <p:nvSpPr>
          <p:cNvPr id="200" name="Card_강의 목표"/>
          <p:cNvSpPr/>
          <p:nvPr/>
        </p:nvSpPr>
        <p:spPr>
          <a:xfrm>
            <a:off x="838200" y="1905000"/>
            <a:ext cx="5130800" cy="19685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Header_강의 목표"/>
          <p:cNvSpPr txBox="1"/>
          <p:nvPr/>
        </p:nvSpPr>
        <p:spPr>
          <a:xfrm>
            <a:off x="1701800" y="2133600"/>
            <a:ext cx="4013200" cy="4318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강의 목표</a:t>
            </a:r>
          </a:p>
        </p:txBody>
      </p:sp>
      <p:sp>
        <p:nvSpPr>
          <p:cNvPr id="202" name="Body_강의 목표"/>
          <p:cNvSpPr txBox="1"/>
          <p:nvPr/>
        </p:nvSpPr>
        <p:spPr>
          <a:xfrm>
            <a:off x="1092200" y="2692400"/>
            <a:ext cx="4622800" cy="97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ko-KR" sz="1400" dirty="0">
                <a:solidFill>
                  <a:srgbClr val="31485E"/>
                </a:solidFill>
              </a:rPr>
              <a:t>핵심 자료구조의 동작 원리를 이해하고, 문제에 맞는 자료구조와 알고리즘을 선택·구현하는 능력을 기릅니다.</a:t>
            </a:r>
          </a:p>
        </p:txBody>
      </p:sp>
      <p:sp>
        <p:nvSpPr>
          <p:cNvPr id="203" name="Card_선수 지식"/>
          <p:cNvSpPr/>
          <p:nvPr/>
        </p:nvSpPr>
        <p:spPr>
          <a:xfrm>
            <a:off x="6223000" y="1905000"/>
            <a:ext cx="5130800" cy="19685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4" name="Header_선수 지식"/>
          <p:cNvSpPr txBox="1"/>
          <p:nvPr/>
        </p:nvSpPr>
        <p:spPr>
          <a:xfrm>
            <a:off x="7086600" y="2133600"/>
            <a:ext cx="4013200" cy="4318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선수 지식</a:t>
            </a:r>
          </a:p>
        </p:txBody>
      </p:sp>
      <p:sp>
        <p:nvSpPr>
          <p:cNvPr id="205" name="Body_선수 지식"/>
          <p:cNvSpPr txBox="1"/>
          <p:nvPr/>
        </p:nvSpPr>
        <p:spPr>
          <a:xfrm>
            <a:off x="6477000" y="2692400"/>
            <a:ext cx="4622800" cy="97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ko-KR" sz="1400" dirty="0">
                <a:solidFill>
                  <a:srgbClr val="31485E"/>
                </a:solidFill>
              </a:rPr>
              <a:t>프로그래밍 기초 과목 이수 권장 — C/C++, Java, Python 중 한 가지 언어의 사용 경험이 필요합니다.</a:t>
            </a:r>
          </a:p>
        </p:txBody>
      </p:sp>
      <p:sp>
        <p:nvSpPr>
          <p:cNvPr id="206" name="Card_평가 방식"/>
          <p:cNvSpPr/>
          <p:nvPr/>
        </p:nvSpPr>
        <p:spPr>
          <a:xfrm>
            <a:off x="838200" y="4127500"/>
            <a:ext cx="5130800" cy="19685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7" name="Header_평가 방식"/>
          <p:cNvSpPr txBox="1"/>
          <p:nvPr/>
        </p:nvSpPr>
        <p:spPr>
          <a:xfrm>
            <a:off x="1701800" y="4356100"/>
            <a:ext cx="4013200" cy="4318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평가 방식</a:t>
            </a:r>
          </a:p>
        </p:txBody>
      </p:sp>
      <p:sp>
        <p:nvSpPr>
          <p:cNvPr id="208" name="Body_평가 방식"/>
          <p:cNvSpPr txBox="1"/>
          <p:nvPr/>
        </p:nvSpPr>
        <p:spPr>
          <a:xfrm>
            <a:off x="1092200" y="4914900"/>
            <a:ext cx="4622800" cy="97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ko-KR" sz="1400" dirty="0">
                <a:solidFill>
                  <a:srgbClr val="31485E"/>
                </a:solidFill>
              </a:rPr>
              <a:t>중간고사 30% · 기말고사 30% · 과제 30% · 출석 10% (예시 비율 — 실제 기준에 맞게 수정)</a:t>
            </a:r>
          </a:p>
        </p:txBody>
      </p:sp>
      <p:sp>
        <p:nvSpPr>
          <p:cNvPr id="209" name="Card_교재 및 자료"/>
          <p:cNvSpPr/>
          <p:nvPr/>
        </p:nvSpPr>
        <p:spPr>
          <a:xfrm>
            <a:off x="6223000" y="4127500"/>
            <a:ext cx="5130800" cy="19685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0" name="Header_교재 및 자료"/>
          <p:cNvSpPr txBox="1"/>
          <p:nvPr/>
        </p:nvSpPr>
        <p:spPr>
          <a:xfrm>
            <a:off x="7086600" y="4356100"/>
            <a:ext cx="4013200" cy="4318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교재 및 자료</a:t>
            </a:r>
          </a:p>
        </p:txBody>
      </p:sp>
      <p:sp>
        <p:nvSpPr>
          <p:cNvPr id="211" name="Body_교재 및 자료"/>
          <p:cNvSpPr txBox="1"/>
          <p:nvPr/>
        </p:nvSpPr>
        <p:spPr>
          <a:xfrm>
            <a:off x="6477000" y="4914900"/>
            <a:ext cx="4622800" cy="97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ko-KR" sz="1400" dirty="0">
                <a:solidFill>
                  <a:srgbClr val="31485E"/>
                </a:solidFill>
              </a:rPr>
              <a:t>주교재: ○○○ (교재명 기입) · 보조 자료: 강의 노트와 실습 코드 저장소</a:t>
            </a:r>
          </a:p>
        </p:txBody>
      </p:sp>
      <p:pic>
        <p:nvPicPr>
          <p:cNvPr id="212" name="Graphic 212" descr="강의 목표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133600"/>
            <a:ext cx="431800" cy="431800"/>
          </a:xfrm>
          <a:prstGeom prst="rect">
            <a:avLst/>
          </a:prstGeom>
        </p:spPr>
      </p:pic>
      <p:pic>
        <p:nvPicPr>
          <p:cNvPr id="213" name="Graphic 213" descr="선수 지식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2133600"/>
            <a:ext cx="431800" cy="431800"/>
          </a:xfrm>
          <a:prstGeom prst="rect">
            <a:avLst/>
          </a:prstGeom>
        </p:spPr>
      </p:pic>
      <p:pic>
        <p:nvPicPr>
          <p:cNvPr id="214" name="Graphic 214" descr="평가 방식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4356100"/>
            <a:ext cx="431800" cy="431800"/>
          </a:xfrm>
          <a:prstGeom prst="rect">
            <a:avLst/>
          </a:prstGeom>
        </p:spPr>
      </p:pic>
      <p:pic>
        <p:nvPicPr>
          <p:cNvPr id="215" name="Graphic 215" descr="교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3561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77577-3ECA-5347-486E-6E6FD917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01</a:t>
            </a:r>
            <a:r>
              <a:rPr lang="ko-KR" sz="3200" b="1" dirty="0"/>
              <a:t>  자료구조 개요와 알고리즘 분석</a:t>
            </a:r>
          </a:p>
        </p:txBody>
      </p:sp>
      <p:sp>
        <p:nvSpPr>
          <p:cNvPr id="300" name="ConceptText"/>
          <p:cNvSpPr txBox="1"/>
          <p:nvPr/>
        </p:nvSpPr>
        <p:spPr>
          <a:xfrm>
            <a:off x="838200" y="1879600"/>
            <a:ext cx="5080000" cy="431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14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자료구조란?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데이터를 효율적으로 저장·접근·수정하기 위한 조직 방법</a:t>
            </a:r>
          </a:p>
          <a:p>
            <a:pPr>
              <a:spcBef>
                <a:spcPts val="14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알고리즘 분석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시간 복잡도: 입력 크기 n에 따른 연산 횟수의 증가율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공간 복잡도: 실행 중 추가로 사용하는 메모리 양</a:t>
            </a:r>
          </a:p>
          <a:p>
            <a:pPr>
              <a:spcBef>
                <a:spcPts val="1400"/>
              </a:spcBef>
              <a:buNone/>
            </a:pPr>
            <a:r>
              <a:rPr lang="ko-KR" sz="1800" b="1" dirty="0">
                <a:solidFill>
                  <a:srgbClr val="2F6690"/>
                </a:solidFill>
              </a:rPr>
              <a:t>Big-O 표기법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최악의 경우(worst case) 성장률의 상한을 표기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상수·저차항은 무시하고 가장 빠르게 증가하는 항만 남김</a:t>
            </a:r>
          </a:p>
          <a:p>
            <a:pPr marL="228600" indent="-22860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O(1) &lt; O(log n) &lt; O(n) &lt; O(n log n) &lt; O(n²) &lt; O(2ⁿ)</a:t>
            </a:r>
          </a:p>
        </p:txBody>
      </p:sp>
      <p:graphicFrame>
        <p:nvGraphicFramePr>
          <p:cNvPr id="401" name="BigOChart"/>
          <p:cNvGraphicFramePr/>
          <p:nvPr/>
        </p:nvGraphicFramePr>
        <p:xfrm>
          <a:off x="6172200" y="1879600"/>
          <a:ext cx="51816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074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03B95-3AC5-0BC1-EDD6-8EB97563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02</a:t>
            </a:r>
            <a:r>
              <a:rPr lang="ko-KR" sz="3200" b="1" dirty="0"/>
              <a:t>  배열과 연결 리스트</a:t>
            </a:r>
          </a:p>
        </p:txBody>
      </p:sp>
      <p:sp>
        <p:nvSpPr>
          <p:cNvPr id="320" name="Header_배열 (Array)"/>
          <p:cNvSpPr txBox="1"/>
          <p:nvPr/>
        </p:nvSpPr>
        <p:spPr>
          <a:xfrm>
            <a:off x="838200" y="1879600"/>
            <a:ext cx="5080000" cy="355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배열 (Array)</a:t>
            </a:r>
          </a:p>
        </p:txBody>
      </p:sp>
      <p:sp>
        <p:nvSpPr>
          <p:cNvPr id="321" name="ArrCell0"/>
          <p:cNvSpPr/>
          <p:nvPr/>
        </p:nvSpPr>
        <p:spPr>
          <a:xfrm>
            <a:off x="1092200" y="23622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322" name="ArrCell1"/>
          <p:cNvSpPr/>
          <p:nvPr/>
        </p:nvSpPr>
        <p:spPr>
          <a:xfrm>
            <a:off x="2057400" y="23622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323" name="ArrCell2"/>
          <p:cNvSpPr/>
          <p:nvPr/>
        </p:nvSpPr>
        <p:spPr>
          <a:xfrm>
            <a:off x="3022600" y="23622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7</a:t>
            </a:r>
          </a:p>
        </p:txBody>
      </p:sp>
      <p:sp>
        <p:nvSpPr>
          <p:cNvPr id="324" name="ArrCell3"/>
          <p:cNvSpPr/>
          <p:nvPr/>
        </p:nvSpPr>
        <p:spPr>
          <a:xfrm>
            <a:off x="3987800" y="23622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48</a:t>
            </a:r>
          </a:p>
        </p:txBody>
      </p:sp>
      <p:sp>
        <p:nvSpPr>
          <p:cNvPr id="325" name="ArrIdx0"/>
          <p:cNvSpPr txBox="1"/>
          <p:nvPr/>
        </p:nvSpPr>
        <p:spPr>
          <a:xfrm>
            <a:off x="1092200" y="2971800"/>
            <a:ext cx="965200" cy="27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[0]</a:t>
            </a:r>
          </a:p>
        </p:txBody>
      </p:sp>
      <p:sp>
        <p:nvSpPr>
          <p:cNvPr id="326" name="ArrIdx1"/>
          <p:cNvSpPr txBox="1"/>
          <p:nvPr/>
        </p:nvSpPr>
        <p:spPr>
          <a:xfrm>
            <a:off x="2057400" y="2971800"/>
            <a:ext cx="965200" cy="27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[1]</a:t>
            </a:r>
          </a:p>
        </p:txBody>
      </p:sp>
      <p:sp>
        <p:nvSpPr>
          <p:cNvPr id="327" name="ArrIdx2"/>
          <p:cNvSpPr txBox="1"/>
          <p:nvPr/>
        </p:nvSpPr>
        <p:spPr>
          <a:xfrm>
            <a:off x="3022600" y="2971800"/>
            <a:ext cx="965200" cy="27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[2]</a:t>
            </a:r>
          </a:p>
        </p:txBody>
      </p:sp>
      <p:sp>
        <p:nvSpPr>
          <p:cNvPr id="328" name="ArrIdx3"/>
          <p:cNvSpPr txBox="1"/>
          <p:nvPr/>
        </p:nvSpPr>
        <p:spPr>
          <a:xfrm>
            <a:off x="3987800" y="2971800"/>
            <a:ext cx="965200" cy="27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[3]</a:t>
            </a:r>
          </a:p>
        </p:txBody>
      </p:sp>
      <p:sp>
        <p:nvSpPr>
          <p:cNvPr id="329" name="Bullets_66"/>
          <p:cNvSpPr txBox="1"/>
          <p:nvPr/>
        </p:nvSpPr>
        <p:spPr>
          <a:xfrm>
            <a:off x="838200" y="3378200"/>
            <a:ext cx="5080000" cy="88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연속된 메모리 공간에 같은 타입의 데이터 저장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인덱스로 O(1) 임의 접근 — 크기는 고정</a:t>
            </a:r>
          </a:p>
        </p:txBody>
      </p:sp>
      <p:sp>
        <p:nvSpPr>
          <p:cNvPr id="330" name="Header_연결 리스트 (Linked List)"/>
          <p:cNvSpPr txBox="1"/>
          <p:nvPr/>
        </p:nvSpPr>
        <p:spPr>
          <a:xfrm>
            <a:off x="6223000" y="1879600"/>
            <a:ext cx="5080000" cy="355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연결 리스트 (Linked List)</a:t>
            </a:r>
          </a:p>
        </p:txBody>
      </p:sp>
      <p:sp>
        <p:nvSpPr>
          <p:cNvPr id="331" name="NodeData0"/>
          <p:cNvSpPr/>
          <p:nvPr/>
        </p:nvSpPr>
        <p:spPr>
          <a:xfrm>
            <a:off x="6477000" y="2362200"/>
            <a:ext cx="6096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332" name="NodePtr0"/>
          <p:cNvSpPr/>
          <p:nvPr/>
        </p:nvSpPr>
        <p:spPr>
          <a:xfrm>
            <a:off x="7086600" y="2362200"/>
            <a:ext cx="304800" cy="558800"/>
          </a:xfrm>
          <a:prstGeom prst="rect">
            <a:avLst/>
          </a:prstGeom>
          <a:solidFill>
            <a:srgbClr val="5B8C5A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33" name="NodeArrow0"/>
          <p:cNvSpPr/>
          <p:nvPr/>
        </p:nvSpPr>
        <p:spPr>
          <a:xfrm>
            <a:off x="7391400" y="2641600"/>
            <a:ext cx="330200" cy="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34" name="NodeData1"/>
          <p:cNvSpPr/>
          <p:nvPr/>
        </p:nvSpPr>
        <p:spPr>
          <a:xfrm>
            <a:off x="7721600" y="2362200"/>
            <a:ext cx="6096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335" name="NodePtr1"/>
          <p:cNvSpPr/>
          <p:nvPr/>
        </p:nvSpPr>
        <p:spPr>
          <a:xfrm>
            <a:off x="8331200" y="2362200"/>
            <a:ext cx="304800" cy="558800"/>
          </a:xfrm>
          <a:prstGeom prst="rect">
            <a:avLst/>
          </a:prstGeom>
          <a:solidFill>
            <a:srgbClr val="5B8C5A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36" name="NodeArrow1"/>
          <p:cNvSpPr/>
          <p:nvPr/>
        </p:nvSpPr>
        <p:spPr>
          <a:xfrm>
            <a:off x="8636000" y="2641600"/>
            <a:ext cx="330200" cy="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37" name="NodeData2"/>
          <p:cNvSpPr/>
          <p:nvPr/>
        </p:nvSpPr>
        <p:spPr>
          <a:xfrm>
            <a:off x="8966200" y="2362200"/>
            <a:ext cx="6096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7</a:t>
            </a:r>
          </a:p>
        </p:txBody>
      </p:sp>
      <p:sp>
        <p:nvSpPr>
          <p:cNvPr id="338" name="NodePtr2"/>
          <p:cNvSpPr/>
          <p:nvPr/>
        </p:nvSpPr>
        <p:spPr>
          <a:xfrm>
            <a:off x="9575800" y="2362200"/>
            <a:ext cx="304800" cy="558800"/>
          </a:xfrm>
          <a:prstGeom prst="rect">
            <a:avLst/>
          </a:prstGeom>
          <a:solidFill>
            <a:srgbClr val="5B8C5A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39" name="NodeArrow2"/>
          <p:cNvSpPr/>
          <p:nvPr/>
        </p:nvSpPr>
        <p:spPr>
          <a:xfrm>
            <a:off x="9880600" y="2641600"/>
            <a:ext cx="330200" cy="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40" name="NullMark"/>
          <p:cNvSpPr txBox="1"/>
          <p:nvPr/>
        </p:nvSpPr>
        <p:spPr>
          <a:xfrm>
            <a:off x="10210800" y="2463800"/>
            <a:ext cx="508000" cy="355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5A6B7C"/>
                </a:solidFill>
              </a:rPr>
              <a:t>∅</a:t>
            </a:r>
          </a:p>
        </p:txBody>
      </p:sp>
      <p:sp>
        <p:nvSpPr>
          <p:cNvPr id="341" name="Bullets_490"/>
          <p:cNvSpPr txBox="1"/>
          <p:nvPr/>
        </p:nvSpPr>
        <p:spPr>
          <a:xfrm>
            <a:off x="6223000" y="3378200"/>
            <a:ext cx="5130800" cy="88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노드(데이터 + 다음 노드 포인터)들이 흩어져 연결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중간 삽입·삭제 O(1) — 임의 접근은 O(n)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28949F-11CD-4F93-8442-BC4BDC6AE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70274"/>
              </p:ext>
            </p:extLst>
          </p:nvPr>
        </p:nvGraphicFramePr>
        <p:xfrm>
          <a:off x="838200" y="4521200"/>
          <a:ext cx="105156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74612773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699201583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1346697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연산 / 특성</a:t>
                      </a:r>
                    </a:p>
                  </a:txBody>
                  <a:tcPr anchor="ctr"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배열</a:t>
                      </a:r>
                    </a:p>
                  </a:txBody>
                  <a:tcPr anchor="ctr"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연결 리스트</a:t>
                      </a:r>
                    </a:p>
                  </a:txBody>
                  <a:tcPr anchor="ctr"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2097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/>
                        <a:t>임의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9776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/>
                        <a:t>중간 삽입·삭제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O(1) (노드 위치를 아는 경우)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58099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/>
                        <a:t>메모리 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연속 (캐시 친화적)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불연속 (포인터 오버헤드)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21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38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57D50-81D9-D9D8-A6B2-FCF3AA15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03</a:t>
            </a:r>
            <a:r>
              <a:rPr lang="ko-KR" sz="3200" b="1" dirty="0"/>
              <a:t>  스택과 큐</a:t>
            </a:r>
          </a:p>
        </p:txBody>
      </p:sp>
      <p:sp>
        <p:nvSpPr>
          <p:cNvPr id="360" name="Header_Stack"/>
          <p:cNvSpPr txBox="1"/>
          <p:nvPr/>
        </p:nvSpPr>
        <p:spPr>
          <a:xfrm>
            <a:off x="838200" y="1879600"/>
            <a:ext cx="5080000" cy="355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스택 (Stack) — LIFO</a:t>
            </a:r>
          </a:p>
        </p:txBody>
      </p:sp>
      <p:sp>
        <p:nvSpPr>
          <p:cNvPr id="361" name="Lbl_Push"/>
          <p:cNvSpPr txBox="1"/>
          <p:nvPr/>
        </p:nvSpPr>
        <p:spPr>
          <a:xfrm>
            <a:off x="1905000" y="2311400"/>
            <a:ext cx="889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b="1" dirty="0">
                <a:solidFill>
                  <a:srgbClr val="31485E"/>
                </a:solidFill>
              </a:rPr>
              <a:t>Push</a:t>
            </a:r>
          </a:p>
        </p:txBody>
      </p:sp>
      <p:sp>
        <p:nvSpPr>
          <p:cNvPr id="362" name="Lbl_Pop"/>
          <p:cNvSpPr txBox="1"/>
          <p:nvPr/>
        </p:nvSpPr>
        <p:spPr>
          <a:xfrm>
            <a:off x="3048000" y="2311400"/>
            <a:ext cx="889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b="1" dirty="0">
                <a:solidFill>
                  <a:srgbClr val="31485E"/>
                </a:solidFill>
              </a:rPr>
              <a:t>Pop</a:t>
            </a:r>
          </a:p>
        </p:txBody>
      </p:sp>
      <p:sp>
        <p:nvSpPr>
          <p:cNvPr id="363" name="PushArrow"/>
          <p:cNvSpPr/>
          <p:nvPr/>
        </p:nvSpPr>
        <p:spPr>
          <a:xfrm>
            <a:off x="2349500" y="2616200"/>
            <a:ext cx="0" cy="43180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64" name="PopArrow"/>
          <p:cNvSpPr/>
          <p:nvPr/>
        </p:nvSpPr>
        <p:spPr>
          <a:xfrm flipV="1">
            <a:off x="3492500" y="2616200"/>
            <a:ext cx="0" cy="43180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65" name="StackTop"/>
          <p:cNvSpPr/>
          <p:nvPr/>
        </p:nvSpPr>
        <p:spPr>
          <a:xfrm>
            <a:off x="1778000" y="3124200"/>
            <a:ext cx="2286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7</a:t>
            </a:r>
          </a:p>
        </p:txBody>
      </p:sp>
      <p:sp>
        <p:nvSpPr>
          <p:cNvPr id="366" name="Lbl_← top"/>
          <p:cNvSpPr txBox="1"/>
          <p:nvPr/>
        </p:nvSpPr>
        <p:spPr>
          <a:xfrm>
            <a:off x="4191000" y="3225800"/>
            <a:ext cx="762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← top</a:t>
            </a:r>
          </a:p>
        </p:txBody>
      </p:sp>
      <p:sp>
        <p:nvSpPr>
          <p:cNvPr id="367" name="StackMid"/>
          <p:cNvSpPr/>
          <p:nvPr/>
        </p:nvSpPr>
        <p:spPr>
          <a:xfrm>
            <a:off x="1778000" y="3606800"/>
            <a:ext cx="2286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368" name="StackBot"/>
          <p:cNvSpPr/>
          <p:nvPr/>
        </p:nvSpPr>
        <p:spPr>
          <a:xfrm>
            <a:off x="1778000" y="4089400"/>
            <a:ext cx="2286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369" name="Bullets_66"/>
          <p:cNvSpPr txBox="1"/>
          <p:nvPr/>
        </p:nvSpPr>
        <p:spPr>
          <a:xfrm>
            <a:off x="838200" y="4826000"/>
            <a:ext cx="5080000" cy="127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LIFO: 마지막에 넣은 데이터를 먼저 꺼냄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push · pop · peek 모두 O(1)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활용: 함수 호출 스택, 괄호 검사, 실행 취소(Undo)</a:t>
            </a:r>
          </a:p>
        </p:txBody>
      </p:sp>
      <p:sp>
        <p:nvSpPr>
          <p:cNvPr id="370" name="Header_Queue"/>
          <p:cNvSpPr txBox="1"/>
          <p:nvPr/>
        </p:nvSpPr>
        <p:spPr>
          <a:xfrm>
            <a:off x="6223000" y="1879600"/>
            <a:ext cx="5130800" cy="355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ko-KR" sz="1800" b="1" dirty="0">
                <a:solidFill>
                  <a:srgbClr val="2F6690"/>
                </a:solidFill>
              </a:rPr>
              <a:t>큐 (Queue) — FIFO</a:t>
            </a:r>
          </a:p>
        </p:txBody>
      </p:sp>
      <p:sp>
        <p:nvSpPr>
          <p:cNvPr id="371" name="Lbl_Dequeue (앞)"/>
          <p:cNvSpPr txBox="1"/>
          <p:nvPr/>
        </p:nvSpPr>
        <p:spPr>
          <a:xfrm>
            <a:off x="6070600" y="2540000"/>
            <a:ext cx="1397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b="1" dirty="0">
                <a:solidFill>
                  <a:srgbClr val="31485E"/>
                </a:solidFill>
              </a:rPr>
              <a:t>Dequeue (앞)</a:t>
            </a:r>
          </a:p>
        </p:txBody>
      </p:sp>
      <p:sp>
        <p:nvSpPr>
          <p:cNvPr id="372" name="Lbl_Enqueue (뒤)"/>
          <p:cNvSpPr txBox="1"/>
          <p:nvPr/>
        </p:nvSpPr>
        <p:spPr>
          <a:xfrm>
            <a:off x="10007600" y="2540000"/>
            <a:ext cx="13462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b="1" dirty="0">
                <a:solidFill>
                  <a:srgbClr val="31485E"/>
                </a:solidFill>
              </a:rPr>
              <a:t>Enqueue (뒤)</a:t>
            </a:r>
          </a:p>
        </p:txBody>
      </p:sp>
      <p:sp>
        <p:nvSpPr>
          <p:cNvPr id="373" name="DequeueArrow"/>
          <p:cNvSpPr/>
          <p:nvPr/>
        </p:nvSpPr>
        <p:spPr>
          <a:xfrm flipH="1">
            <a:off x="6350000" y="3175000"/>
            <a:ext cx="508000" cy="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74" name="QBox0"/>
          <p:cNvSpPr/>
          <p:nvPr/>
        </p:nvSpPr>
        <p:spPr>
          <a:xfrm>
            <a:off x="7366000" y="28956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375" name="QBox1"/>
          <p:cNvSpPr/>
          <p:nvPr/>
        </p:nvSpPr>
        <p:spPr>
          <a:xfrm>
            <a:off x="8331200" y="28956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376" name="QBox2"/>
          <p:cNvSpPr/>
          <p:nvPr/>
        </p:nvSpPr>
        <p:spPr>
          <a:xfrm>
            <a:off x="9296400" y="2895600"/>
            <a:ext cx="965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F2A37"/>
                </a:solidFill>
              </a:rPr>
              <a:t>7</a:t>
            </a:r>
          </a:p>
        </p:txBody>
      </p:sp>
      <p:sp>
        <p:nvSpPr>
          <p:cNvPr id="377" name="EnqueueArrow"/>
          <p:cNvSpPr/>
          <p:nvPr/>
        </p:nvSpPr>
        <p:spPr>
          <a:xfrm flipH="1">
            <a:off x="10515600" y="3175000"/>
            <a:ext cx="508000" cy="0"/>
          </a:xfrm>
          <a:prstGeom prst="line">
            <a:avLst/>
          </a:prstGeom>
          <a:ln w="22225">
            <a:solidFill>
              <a:srgbClr val="31485E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378" name="Lbl_front"/>
          <p:cNvSpPr txBox="1"/>
          <p:nvPr/>
        </p:nvSpPr>
        <p:spPr>
          <a:xfrm>
            <a:off x="7366000" y="3556000"/>
            <a:ext cx="9652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front</a:t>
            </a:r>
          </a:p>
        </p:txBody>
      </p:sp>
      <p:sp>
        <p:nvSpPr>
          <p:cNvPr id="379" name="Lbl_rear"/>
          <p:cNvSpPr txBox="1"/>
          <p:nvPr/>
        </p:nvSpPr>
        <p:spPr>
          <a:xfrm>
            <a:off x="9296400" y="3556000"/>
            <a:ext cx="9652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rear</a:t>
            </a:r>
          </a:p>
        </p:txBody>
      </p:sp>
      <p:sp>
        <p:nvSpPr>
          <p:cNvPr id="380" name="Bullets_490"/>
          <p:cNvSpPr txBox="1"/>
          <p:nvPr/>
        </p:nvSpPr>
        <p:spPr>
          <a:xfrm>
            <a:off x="6223000" y="4826000"/>
            <a:ext cx="5130800" cy="127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FIFO: 먼저 넣은 데이터를 먼저 꺼냄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enqueue · dequeue 모두 O(1)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활용: 대기열 처리, BFS 탐색, 작업 스케줄링</a:t>
            </a:r>
          </a:p>
        </p:txBody>
      </p:sp>
    </p:spTree>
    <p:extLst>
      <p:ext uri="{BB962C8B-B14F-4D97-AF65-F5344CB8AC3E}">
        <p14:creationId xmlns:p14="http://schemas.microsoft.com/office/powerpoint/2010/main" val="208236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E60488-2049-12E0-5E45-28F65C15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03</a:t>
            </a:r>
            <a:r>
              <a:rPr lang="ko-KR" sz="3200" b="1" dirty="0"/>
              <a:t>  스택 동작 시나리오 — Push / Pop</a:t>
            </a:r>
          </a:p>
        </p:txBody>
      </p:sp>
      <p:sp>
        <p:nvSpPr>
          <p:cNvPr id="400" name="Op0"/>
          <p:cNvSpPr txBox="1"/>
          <p:nvPr/>
        </p:nvSpPr>
        <p:spPr>
          <a:xfrm>
            <a:off x="838200" y="25146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2F6690"/>
                </a:solidFill>
              </a:rPr>
              <a:t>① push(12)</a:t>
            </a:r>
          </a:p>
        </p:txBody>
      </p:sp>
      <p:sp>
        <p:nvSpPr>
          <p:cNvPr id="401" name="S0R0"/>
          <p:cNvSpPr/>
          <p:nvPr/>
        </p:nvSpPr>
        <p:spPr>
          <a:xfrm>
            <a:off x="1092200" y="4013200"/>
            <a:ext cx="1397000" cy="457200"/>
          </a:xfrm>
          <a:prstGeom prst="rect">
            <a:avLst/>
          </a:prstGeom>
          <a:solidFill>
            <a:srgbClr val="D9E6F2"/>
          </a:solidFill>
          <a:ln w="19050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402" name="S0R1"/>
          <p:cNvSpPr/>
          <p:nvPr/>
        </p:nvSpPr>
        <p:spPr>
          <a:xfrm>
            <a:off x="1092200" y="3530600"/>
            <a:ext cx="1397000" cy="4572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03" name="S0R2"/>
          <p:cNvSpPr/>
          <p:nvPr/>
        </p:nvSpPr>
        <p:spPr>
          <a:xfrm>
            <a:off x="1092200" y="3048000"/>
            <a:ext cx="1397000" cy="4572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04" name="Cap0"/>
          <p:cNvSpPr txBox="1"/>
          <p:nvPr/>
        </p:nvSpPr>
        <p:spPr>
          <a:xfrm>
            <a:off x="838200" y="45974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[12]</a:t>
            </a:r>
          </a:p>
        </p:txBody>
      </p:sp>
      <p:sp>
        <p:nvSpPr>
          <p:cNvPr id="405" name="StepArrow0"/>
          <p:cNvSpPr/>
          <p:nvPr/>
        </p:nvSpPr>
        <p:spPr>
          <a:xfrm>
            <a:off x="2755900" y="3759200"/>
            <a:ext cx="177800" cy="0"/>
          </a:xfrm>
          <a:prstGeom prst="line">
            <a:avLst/>
          </a:prstGeom>
          <a:ln w="22225">
            <a:solidFill>
              <a:srgbClr val="9AB0C4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406" name="Op1"/>
          <p:cNvSpPr txBox="1"/>
          <p:nvPr/>
        </p:nvSpPr>
        <p:spPr>
          <a:xfrm>
            <a:off x="2946400" y="25146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2F6690"/>
                </a:solidFill>
              </a:rPr>
              <a:t>② push(35)</a:t>
            </a:r>
          </a:p>
        </p:txBody>
      </p:sp>
      <p:sp>
        <p:nvSpPr>
          <p:cNvPr id="407" name="S1R0"/>
          <p:cNvSpPr/>
          <p:nvPr/>
        </p:nvSpPr>
        <p:spPr>
          <a:xfrm>
            <a:off x="3200400" y="40132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408" name="S1R1"/>
          <p:cNvSpPr/>
          <p:nvPr/>
        </p:nvSpPr>
        <p:spPr>
          <a:xfrm>
            <a:off x="3200400" y="3530600"/>
            <a:ext cx="1397000" cy="457200"/>
          </a:xfrm>
          <a:prstGeom prst="rect">
            <a:avLst/>
          </a:prstGeom>
          <a:solidFill>
            <a:srgbClr val="D9E6F2"/>
          </a:solidFill>
          <a:ln w="19050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409" name="S1R2"/>
          <p:cNvSpPr/>
          <p:nvPr/>
        </p:nvSpPr>
        <p:spPr>
          <a:xfrm>
            <a:off x="3200400" y="3048000"/>
            <a:ext cx="1397000" cy="4572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10" name="Cap1"/>
          <p:cNvSpPr txBox="1"/>
          <p:nvPr/>
        </p:nvSpPr>
        <p:spPr>
          <a:xfrm>
            <a:off x="2946400" y="45974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[12, 35]</a:t>
            </a:r>
          </a:p>
        </p:txBody>
      </p:sp>
      <p:sp>
        <p:nvSpPr>
          <p:cNvPr id="411" name="StepArrow1"/>
          <p:cNvSpPr/>
          <p:nvPr/>
        </p:nvSpPr>
        <p:spPr>
          <a:xfrm>
            <a:off x="4864100" y="3759200"/>
            <a:ext cx="177800" cy="0"/>
          </a:xfrm>
          <a:prstGeom prst="line">
            <a:avLst/>
          </a:prstGeom>
          <a:ln w="22225">
            <a:solidFill>
              <a:srgbClr val="9AB0C4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412" name="Op2"/>
          <p:cNvSpPr txBox="1"/>
          <p:nvPr/>
        </p:nvSpPr>
        <p:spPr>
          <a:xfrm>
            <a:off x="5054600" y="25146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2F6690"/>
                </a:solidFill>
              </a:rPr>
              <a:t>③ push(7)</a:t>
            </a:r>
          </a:p>
        </p:txBody>
      </p:sp>
      <p:sp>
        <p:nvSpPr>
          <p:cNvPr id="413" name="S2R0"/>
          <p:cNvSpPr/>
          <p:nvPr/>
        </p:nvSpPr>
        <p:spPr>
          <a:xfrm>
            <a:off x="5308600" y="40132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414" name="S2R1"/>
          <p:cNvSpPr/>
          <p:nvPr/>
        </p:nvSpPr>
        <p:spPr>
          <a:xfrm>
            <a:off x="5308600" y="35306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415" name="S2R2"/>
          <p:cNvSpPr/>
          <p:nvPr/>
        </p:nvSpPr>
        <p:spPr>
          <a:xfrm>
            <a:off x="5308600" y="3048000"/>
            <a:ext cx="1397000" cy="457200"/>
          </a:xfrm>
          <a:prstGeom prst="rect">
            <a:avLst/>
          </a:prstGeom>
          <a:solidFill>
            <a:srgbClr val="D9E6F2"/>
          </a:solidFill>
          <a:ln w="19050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7</a:t>
            </a:r>
          </a:p>
        </p:txBody>
      </p:sp>
      <p:sp>
        <p:nvSpPr>
          <p:cNvPr id="416" name="Cap2"/>
          <p:cNvSpPr txBox="1"/>
          <p:nvPr/>
        </p:nvSpPr>
        <p:spPr>
          <a:xfrm>
            <a:off x="5054600" y="45974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[12, 35, 7]</a:t>
            </a:r>
          </a:p>
        </p:txBody>
      </p:sp>
      <p:sp>
        <p:nvSpPr>
          <p:cNvPr id="417" name="StepArrow2"/>
          <p:cNvSpPr/>
          <p:nvPr/>
        </p:nvSpPr>
        <p:spPr>
          <a:xfrm>
            <a:off x="6972300" y="3759200"/>
            <a:ext cx="177800" cy="0"/>
          </a:xfrm>
          <a:prstGeom prst="line">
            <a:avLst/>
          </a:prstGeom>
          <a:ln w="22225">
            <a:solidFill>
              <a:srgbClr val="9AB0C4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418" name="Op3"/>
          <p:cNvSpPr txBox="1"/>
          <p:nvPr/>
        </p:nvSpPr>
        <p:spPr>
          <a:xfrm>
            <a:off x="7162800" y="25146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D08C60"/>
                </a:solidFill>
              </a:rPr>
              <a:t>④ pop()</a:t>
            </a:r>
          </a:p>
        </p:txBody>
      </p:sp>
      <p:sp>
        <p:nvSpPr>
          <p:cNvPr id="419" name="S3R0"/>
          <p:cNvSpPr/>
          <p:nvPr/>
        </p:nvSpPr>
        <p:spPr>
          <a:xfrm>
            <a:off x="7416800" y="40132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420" name="S3R1"/>
          <p:cNvSpPr/>
          <p:nvPr/>
        </p:nvSpPr>
        <p:spPr>
          <a:xfrm>
            <a:off x="7416800" y="35306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421" name="S3R2"/>
          <p:cNvSpPr/>
          <p:nvPr/>
        </p:nvSpPr>
        <p:spPr>
          <a:xfrm>
            <a:off x="7416800" y="3048000"/>
            <a:ext cx="1397000" cy="4572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22" name="Cap3"/>
          <p:cNvSpPr txBox="1"/>
          <p:nvPr/>
        </p:nvSpPr>
        <p:spPr>
          <a:xfrm>
            <a:off x="7162800" y="45974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7 반환 → [12, 35]</a:t>
            </a:r>
          </a:p>
        </p:txBody>
      </p:sp>
      <p:sp>
        <p:nvSpPr>
          <p:cNvPr id="423" name="StepArrow3"/>
          <p:cNvSpPr/>
          <p:nvPr/>
        </p:nvSpPr>
        <p:spPr>
          <a:xfrm>
            <a:off x="9080500" y="3759200"/>
            <a:ext cx="177800" cy="0"/>
          </a:xfrm>
          <a:prstGeom prst="line">
            <a:avLst/>
          </a:prstGeom>
          <a:ln w="22225">
            <a:solidFill>
              <a:srgbClr val="9AB0C4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424" name="Op4"/>
          <p:cNvSpPr txBox="1"/>
          <p:nvPr/>
        </p:nvSpPr>
        <p:spPr>
          <a:xfrm>
            <a:off x="9271000" y="25146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600" b="1" dirty="0">
                <a:solidFill>
                  <a:srgbClr val="2F6690"/>
                </a:solidFill>
              </a:rPr>
              <a:t>⑤ push(48)</a:t>
            </a:r>
          </a:p>
        </p:txBody>
      </p:sp>
      <p:sp>
        <p:nvSpPr>
          <p:cNvPr id="425" name="S4R0"/>
          <p:cNvSpPr/>
          <p:nvPr/>
        </p:nvSpPr>
        <p:spPr>
          <a:xfrm>
            <a:off x="9525000" y="40132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12</a:t>
            </a:r>
          </a:p>
        </p:txBody>
      </p:sp>
      <p:sp>
        <p:nvSpPr>
          <p:cNvPr id="426" name="S4R1"/>
          <p:cNvSpPr/>
          <p:nvPr/>
        </p:nvSpPr>
        <p:spPr>
          <a:xfrm>
            <a:off x="9525000" y="3530600"/>
            <a:ext cx="13970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35</a:t>
            </a:r>
          </a:p>
        </p:txBody>
      </p:sp>
      <p:sp>
        <p:nvSpPr>
          <p:cNvPr id="427" name="S4R2"/>
          <p:cNvSpPr/>
          <p:nvPr/>
        </p:nvSpPr>
        <p:spPr>
          <a:xfrm>
            <a:off x="9525000" y="3048000"/>
            <a:ext cx="1397000" cy="457200"/>
          </a:xfrm>
          <a:prstGeom prst="rect">
            <a:avLst/>
          </a:prstGeom>
          <a:solidFill>
            <a:srgbClr val="D9E6F2"/>
          </a:solidFill>
          <a:ln w="19050">
            <a:solidFill>
              <a:srgbClr val="2F6690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1F2A37"/>
                </a:solidFill>
              </a:rPr>
              <a:t>48</a:t>
            </a:r>
          </a:p>
        </p:txBody>
      </p:sp>
      <p:sp>
        <p:nvSpPr>
          <p:cNvPr id="428" name="Cap4"/>
          <p:cNvSpPr txBox="1"/>
          <p:nvPr/>
        </p:nvSpPr>
        <p:spPr>
          <a:xfrm>
            <a:off x="9271000" y="4597400"/>
            <a:ext cx="1905000" cy="30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rgbClr val="5A6B7C"/>
                </a:solidFill>
              </a:rPr>
              <a:t>[12, 35, 48]</a:t>
            </a:r>
          </a:p>
        </p:txBody>
      </p:sp>
      <p:sp>
        <p:nvSpPr>
          <p:cNvPr id="429" name="Summary"/>
          <p:cNvSpPr txBox="1"/>
          <p:nvPr/>
        </p:nvSpPr>
        <p:spPr>
          <a:xfrm>
            <a:off x="838200" y="5232400"/>
            <a:ext cx="10515600" cy="863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모든 삽입·삭제는 top에서만 일어나며 각 연산은 O(1)</a:t>
            </a:r>
          </a:p>
          <a:p>
            <a:pPr marL="228600" indent="-22860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④ pop()은 가장 최근에 push된 7을 반환 — LIFO(후입선출) 원리</a:t>
            </a:r>
          </a:p>
        </p:txBody>
      </p:sp>
    </p:spTree>
    <p:extLst>
      <p:ext uri="{BB962C8B-B14F-4D97-AF65-F5344CB8AC3E}">
        <p14:creationId xmlns:p14="http://schemas.microsoft.com/office/powerpoint/2010/main" val="236894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5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5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5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5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5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45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45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45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5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45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45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45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/>
      <p:bldP spid="401" grpId="0" animBg="1"/>
      <p:bldP spid="402" grpId="0" animBg="1"/>
      <p:bldP spid="403" grpId="0" animBg="1"/>
      <p:bldP spid="404" grpId="0"/>
      <p:bldP spid="405" grpId="0" animBg="1"/>
      <p:bldP spid="406" grpId="0"/>
      <p:bldP spid="407" grpId="0" animBg="1"/>
      <p:bldP spid="408" grpId="0" animBg="1"/>
      <p:bldP spid="409" grpId="0" animBg="1"/>
      <p:bldP spid="410" grpId="0"/>
      <p:bldP spid="411" grpId="0" animBg="1"/>
      <p:bldP spid="412" grpId="0"/>
      <p:bldP spid="413" grpId="0" animBg="1"/>
      <p:bldP spid="414" grpId="0" animBg="1"/>
      <p:bldP spid="415" grpId="0" animBg="1"/>
      <p:bldP spid="416" grpId="0"/>
      <p:bldP spid="417" grpId="0" animBg="1"/>
      <p:bldP spid="418" grpId="0"/>
      <p:bldP spid="419" grpId="0" animBg="1"/>
      <p:bldP spid="420" grpId="0" animBg="1"/>
      <p:bldP spid="421" grpId="0" animBg="1"/>
      <p:bldP spid="422" grpId="0"/>
      <p:bldP spid="423" grpId="0" animBg="1"/>
      <p:bldP spid="424" grpId="0"/>
      <p:bldP spid="425" grpId="0" animBg="1"/>
      <p:bldP spid="426" grpId="0" animBg="1"/>
      <p:bldP spid="427" grpId="0" animBg="1"/>
      <p:bldP spid="428" grpId="0"/>
      <p:bldP spid="4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125E0-2234-319A-CB60-AC6C30AA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03</a:t>
            </a:r>
            <a:r>
              <a:rPr lang="ko-KR" sz="3200" b="1" dirty="0"/>
              <a:t>  스택의 활용 사례</a:t>
            </a:r>
          </a:p>
        </p:txBody>
      </p:sp>
      <p:sp>
        <p:nvSpPr>
          <p:cNvPr id="500" name="Card_함수 호출 스택"/>
          <p:cNvSpPr/>
          <p:nvPr/>
        </p:nvSpPr>
        <p:spPr>
          <a:xfrm>
            <a:off x="8382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1" name="Header_함수 호출 스택"/>
          <p:cNvSpPr txBox="1"/>
          <p:nvPr/>
        </p:nvSpPr>
        <p:spPr>
          <a:xfrm>
            <a:off x="16256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함수 호출 스택</a:t>
            </a:r>
          </a:p>
        </p:txBody>
      </p:sp>
      <p:sp>
        <p:nvSpPr>
          <p:cNvPr id="502" name="Body_함수 호출 스택"/>
          <p:cNvSpPr txBox="1"/>
          <p:nvPr/>
        </p:nvSpPr>
        <p:spPr>
          <a:xfrm>
            <a:off x="10668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함수의 실행 정보와 복귀 주소를 저장 — 재귀 호출 관리의 핵심</a:t>
            </a:r>
          </a:p>
        </p:txBody>
      </p:sp>
      <p:sp>
        <p:nvSpPr>
          <p:cNvPr id="503" name="Card_실행 취소 (Undo/Redo)"/>
          <p:cNvSpPr/>
          <p:nvPr/>
        </p:nvSpPr>
        <p:spPr>
          <a:xfrm>
            <a:off x="44323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4" name="Header_실행 취소 (Undo/Redo)"/>
          <p:cNvSpPr txBox="1"/>
          <p:nvPr/>
        </p:nvSpPr>
        <p:spPr>
          <a:xfrm>
            <a:off x="52197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실행 취소 (Undo/Redo)</a:t>
            </a:r>
          </a:p>
        </p:txBody>
      </p:sp>
      <p:sp>
        <p:nvSpPr>
          <p:cNvPr id="505" name="Body_실행 취소 (Undo/Redo)"/>
          <p:cNvSpPr txBox="1"/>
          <p:nvPr/>
        </p:nvSpPr>
        <p:spPr>
          <a:xfrm>
            <a:off x="46609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편집 이전 상태를 쌓아 두고 Ctrl+Z로 가장 최근 작업부터 복원</a:t>
            </a:r>
          </a:p>
        </p:txBody>
      </p:sp>
      <p:sp>
        <p:nvSpPr>
          <p:cNvPr id="506" name="Card_브라우저 방문 기록"/>
          <p:cNvSpPr/>
          <p:nvPr/>
        </p:nvSpPr>
        <p:spPr>
          <a:xfrm>
            <a:off x="80264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7" name="Header_브라우저 방문 기록"/>
          <p:cNvSpPr txBox="1"/>
          <p:nvPr/>
        </p:nvSpPr>
        <p:spPr>
          <a:xfrm>
            <a:off x="88138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브라우저 방문 기록</a:t>
            </a:r>
          </a:p>
        </p:txBody>
      </p:sp>
      <p:sp>
        <p:nvSpPr>
          <p:cNvPr id="508" name="Body_브라우저 방문 기록"/>
          <p:cNvSpPr txBox="1"/>
          <p:nvPr/>
        </p:nvSpPr>
        <p:spPr>
          <a:xfrm>
            <a:off x="82550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뒤로 가기: 방문한 페이지를 스택에 쌓고 최근 페이지부터 복귀</a:t>
            </a:r>
          </a:p>
        </p:txBody>
      </p:sp>
      <p:sp>
        <p:nvSpPr>
          <p:cNvPr id="509" name="Card_괄호 짝 검사"/>
          <p:cNvSpPr/>
          <p:nvPr/>
        </p:nvSpPr>
        <p:spPr>
          <a:xfrm>
            <a:off x="8382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10" name="Header_괄호 짝 검사"/>
          <p:cNvSpPr txBox="1"/>
          <p:nvPr/>
        </p:nvSpPr>
        <p:spPr>
          <a:xfrm>
            <a:off x="16256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괄호 짝 검사</a:t>
            </a:r>
          </a:p>
        </p:txBody>
      </p:sp>
      <p:sp>
        <p:nvSpPr>
          <p:cNvPr id="511" name="Body_괄호 짝 검사"/>
          <p:cNvSpPr txBox="1"/>
          <p:nvPr/>
        </p:nvSpPr>
        <p:spPr>
          <a:xfrm>
            <a:off x="10668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여는 괄호 push · 닫는 괄호 pop — 컴파일러 구문 검사에 활용</a:t>
            </a:r>
          </a:p>
        </p:txBody>
      </p:sp>
      <p:sp>
        <p:nvSpPr>
          <p:cNvPr id="512" name="Card_수식 계산"/>
          <p:cNvSpPr/>
          <p:nvPr/>
        </p:nvSpPr>
        <p:spPr>
          <a:xfrm>
            <a:off x="44323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13" name="Header_수식 계산"/>
          <p:cNvSpPr txBox="1"/>
          <p:nvPr/>
        </p:nvSpPr>
        <p:spPr>
          <a:xfrm>
            <a:off x="52197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수식 계산</a:t>
            </a:r>
          </a:p>
        </p:txBody>
      </p:sp>
      <p:sp>
        <p:nvSpPr>
          <p:cNvPr id="514" name="Body_수식 계산"/>
          <p:cNvSpPr txBox="1"/>
          <p:nvPr/>
        </p:nvSpPr>
        <p:spPr>
          <a:xfrm>
            <a:off x="46609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중위→후위 표기법 변환과 후위 수식 계산에 피연산자 스택 사용</a:t>
            </a:r>
          </a:p>
        </p:txBody>
      </p:sp>
      <p:sp>
        <p:nvSpPr>
          <p:cNvPr id="515" name="Card_DFS · 백트래킹"/>
          <p:cNvSpPr/>
          <p:nvPr/>
        </p:nvSpPr>
        <p:spPr>
          <a:xfrm>
            <a:off x="80264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16" name="Header_DFS · 백트래킹"/>
          <p:cNvSpPr txBox="1"/>
          <p:nvPr/>
        </p:nvSpPr>
        <p:spPr>
          <a:xfrm>
            <a:off x="88138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2F6690"/>
                </a:solidFill>
              </a:rPr>
              <a:t>DFS · 백트래킹</a:t>
            </a:r>
          </a:p>
        </p:txBody>
      </p:sp>
      <p:sp>
        <p:nvSpPr>
          <p:cNvPr id="517" name="Body_DFS · 백트래킹"/>
          <p:cNvSpPr txBox="1"/>
          <p:nvPr/>
        </p:nvSpPr>
        <p:spPr>
          <a:xfrm>
            <a:off x="82550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미로 탐색처럼 갈림길을 스택에 저장하고 막히면 되돌아가기</a:t>
            </a:r>
          </a:p>
        </p:txBody>
      </p:sp>
      <p:pic>
        <p:nvPicPr>
          <p:cNvPr id="518" name="Graphic 518" descr="함수 호출 스택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108200"/>
            <a:ext cx="406400" cy="406400"/>
          </a:xfrm>
          <a:prstGeom prst="rect">
            <a:avLst/>
          </a:prstGeom>
        </p:spPr>
      </p:pic>
      <p:pic>
        <p:nvPicPr>
          <p:cNvPr id="519" name="Graphic 519" descr="실행 취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0900" y="2108200"/>
            <a:ext cx="406400" cy="406400"/>
          </a:xfrm>
          <a:prstGeom prst="rect">
            <a:avLst/>
          </a:prstGeom>
        </p:spPr>
      </p:pic>
      <p:pic>
        <p:nvPicPr>
          <p:cNvPr id="520" name="Graphic 520" descr="브라우저 방문 기록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2108200"/>
            <a:ext cx="406400" cy="406400"/>
          </a:xfrm>
          <a:prstGeom prst="rect">
            <a:avLst/>
          </a:prstGeom>
        </p:spPr>
      </p:pic>
      <p:pic>
        <p:nvPicPr>
          <p:cNvPr id="521" name="Graphic 521" descr="괄호 짝 검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368800"/>
            <a:ext cx="406400" cy="406400"/>
          </a:xfrm>
          <a:prstGeom prst="rect">
            <a:avLst/>
          </a:prstGeom>
        </p:spPr>
      </p:pic>
      <p:pic>
        <p:nvPicPr>
          <p:cNvPr id="522" name="Graphic 522" descr="수식 계산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4368800"/>
            <a:ext cx="406400" cy="406400"/>
          </a:xfrm>
          <a:prstGeom prst="rect">
            <a:avLst/>
          </a:prstGeom>
        </p:spPr>
      </p:pic>
      <p:pic>
        <p:nvPicPr>
          <p:cNvPr id="523" name="Graphic 523" descr="DFS 백트래킹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4368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2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8F8CC-01A2-C6FE-EB2F-0102CAEF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03</a:t>
            </a:r>
            <a:r>
              <a:rPr lang="ko-KR" sz="3200" b="1" dirty="0"/>
              <a:t>  큐 동작 시나리오 — Enqueue / Dequeue</a:t>
            </a:r>
          </a:p>
        </p:txBody>
      </p:sp>
      <p:sp>
        <p:nvSpPr>
          <p:cNvPr id="600" name="QT600"/>
          <p:cNvSpPr txBox="1"/>
          <p:nvPr/>
        </p:nvSpPr>
        <p:spPr>
          <a:xfrm>
            <a:off x="838200" y="2667000"/>
            <a:ext cx="19050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600" b="1" dirty="0">
                <a:solidFill>
                  <a:srgbClr val="5B8C5A"/>
                </a:solidFill>
              </a:rPr>
              <a:t>① enqueue(12)</a:t>
            </a:r>
          </a:p>
        </p:txBody>
      </p:sp>
      <p:sp>
        <p:nvSpPr>
          <p:cNvPr id="601" name="QC601"/>
          <p:cNvSpPr/>
          <p:nvPr/>
        </p:nvSpPr>
        <p:spPr>
          <a:xfrm>
            <a:off x="952500" y="3175000"/>
            <a:ext cx="558800" cy="508000"/>
          </a:xfrm>
          <a:prstGeom prst="rect">
            <a:avLst/>
          </a:prstGeom>
          <a:solidFill>
            <a:srgbClr val="E1EBD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12</a:t>
            </a:r>
          </a:p>
        </p:txBody>
      </p:sp>
      <p:sp>
        <p:nvSpPr>
          <p:cNvPr id="602" name="QC602"/>
          <p:cNvSpPr/>
          <p:nvPr/>
        </p:nvSpPr>
        <p:spPr>
          <a:xfrm>
            <a:off x="1511300" y="3175000"/>
            <a:ext cx="558800" cy="5080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603" name="QC603"/>
          <p:cNvSpPr/>
          <p:nvPr/>
        </p:nvSpPr>
        <p:spPr>
          <a:xfrm>
            <a:off x="2070100" y="3175000"/>
            <a:ext cx="558800" cy="5080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604" name="QT604"/>
          <p:cNvSpPr txBox="1"/>
          <p:nvPr/>
        </p:nvSpPr>
        <p:spPr>
          <a:xfrm>
            <a:off x="838200" y="3886200"/>
            <a:ext cx="1905000" cy="558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큐: [12]</a:t>
            </a:r>
          </a:p>
        </p:txBody>
      </p:sp>
      <p:sp>
        <p:nvSpPr>
          <p:cNvPr id="605" name="QArrow605"/>
          <p:cNvSpPr/>
          <p:nvPr/>
        </p:nvSpPr>
        <p:spPr>
          <a:xfrm>
            <a:off x="2768600" y="3429000"/>
            <a:ext cx="177800" cy="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06" name="QT606"/>
          <p:cNvSpPr txBox="1"/>
          <p:nvPr/>
        </p:nvSpPr>
        <p:spPr>
          <a:xfrm>
            <a:off x="2946400" y="2667000"/>
            <a:ext cx="19050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600" b="1" dirty="0">
                <a:solidFill>
                  <a:srgbClr val="5B8C5A"/>
                </a:solidFill>
              </a:rPr>
              <a:t>② enqueue(35)</a:t>
            </a:r>
          </a:p>
        </p:txBody>
      </p:sp>
      <p:sp>
        <p:nvSpPr>
          <p:cNvPr id="607" name="QC607"/>
          <p:cNvSpPr/>
          <p:nvPr/>
        </p:nvSpPr>
        <p:spPr>
          <a:xfrm>
            <a:off x="30607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12</a:t>
            </a:r>
          </a:p>
        </p:txBody>
      </p:sp>
      <p:sp>
        <p:nvSpPr>
          <p:cNvPr id="608" name="QC608"/>
          <p:cNvSpPr/>
          <p:nvPr/>
        </p:nvSpPr>
        <p:spPr>
          <a:xfrm>
            <a:off x="3619500" y="3175000"/>
            <a:ext cx="558800" cy="508000"/>
          </a:xfrm>
          <a:prstGeom prst="rect">
            <a:avLst/>
          </a:prstGeom>
          <a:solidFill>
            <a:srgbClr val="E1EBD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35</a:t>
            </a:r>
          </a:p>
        </p:txBody>
      </p:sp>
      <p:sp>
        <p:nvSpPr>
          <p:cNvPr id="609" name="QC609"/>
          <p:cNvSpPr/>
          <p:nvPr/>
        </p:nvSpPr>
        <p:spPr>
          <a:xfrm>
            <a:off x="4178300" y="3175000"/>
            <a:ext cx="558800" cy="5080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610" name="QT610"/>
          <p:cNvSpPr txBox="1"/>
          <p:nvPr/>
        </p:nvSpPr>
        <p:spPr>
          <a:xfrm>
            <a:off x="2946400" y="3886200"/>
            <a:ext cx="1905000" cy="558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[12, 35]</a:t>
            </a:r>
          </a:p>
        </p:txBody>
      </p:sp>
      <p:sp>
        <p:nvSpPr>
          <p:cNvPr id="611" name="QArrow611"/>
          <p:cNvSpPr/>
          <p:nvPr/>
        </p:nvSpPr>
        <p:spPr>
          <a:xfrm>
            <a:off x="4876800" y="3429000"/>
            <a:ext cx="177800" cy="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12" name="QT612"/>
          <p:cNvSpPr txBox="1"/>
          <p:nvPr/>
        </p:nvSpPr>
        <p:spPr>
          <a:xfrm>
            <a:off x="5054600" y="2667000"/>
            <a:ext cx="19050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600" b="1" dirty="0">
                <a:solidFill>
                  <a:srgbClr val="5B8C5A"/>
                </a:solidFill>
              </a:rPr>
              <a:t>③ enqueue(7)</a:t>
            </a:r>
          </a:p>
        </p:txBody>
      </p:sp>
      <p:sp>
        <p:nvSpPr>
          <p:cNvPr id="613" name="QC613"/>
          <p:cNvSpPr/>
          <p:nvPr/>
        </p:nvSpPr>
        <p:spPr>
          <a:xfrm>
            <a:off x="51689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12</a:t>
            </a:r>
          </a:p>
        </p:txBody>
      </p:sp>
      <p:sp>
        <p:nvSpPr>
          <p:cNvPr id="614" name="QC614"/>
          <p:cNvSpPr/>
          <p:nvPr/>
        </p:nvSpPr>
        <p:spPr>
          <a:xfrm>
            <a:off x="57277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35</a:t>
            </a:r>
          </a:p>
        </p:txBody>
      </p:sp>
      <p:sp>
        <p:nvSpPr>
          <p:cNvPr id="615" name="QC615"/>
          <p:cNvSpPr/>
          <p:nvPr/>
        </p:nvSpPr>
        <p:spPr>
          <a:xfrm>
            <a:off x="6286500" y="3175000"/>
            <a:ext cx="558800" cy="508000"/>
          </a:xfrm>
          <a:prstGeom prst="rect">
            <a:avLst/>
          </a:prstGeom>
          <a:solidFill>
            <a:srgbClr val="E1EBD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7</a:t>
            </a:r>
          </a:p>
        </p:txBody>
      </p:sp>
      <p:sp>
        <p:nvSpPr>
          <p:cNvPr id="616" name="QT616"/>
          <p:cNvSpPr txBox="1"/>
          <p:nvPr/>
        </p:nvSpPr>
        <p:spPr>
          <a:xfrm>
            <a:off x="5054600" y="3886200"/>
            <a:ext cx="1905000" cy="558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[12, 35, 7]</a:t>
            </a:r>
          </a:p>
        </p:txBody>
      </p:sp>
      <p:sp>
        <p:nvSpPr>
          <p:cNvPr id="617" name="QArrow617"/>
          <p:cNvSpPr/>
          <p:nvPr/>
        </p:nvSpPr>
        <p:spPr>
          <a:xfrm>
            <a:off x="6985000" y="3429000"/>
            <a:ext cx="177800" cy="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18" name="QT618"/>
          <p:cNvSpPr txBox="1"/>
          <p:nvPr/>
        </p:nvSpPr>
        <p:spPr>
          <a:xfrm>
            <a:off x="7162800" y="2667000"/>
            <a:ext cx="19050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600" b="1" dirty="0">
                <a:solidFill>
                  <a:srgbClr val="D08C60"/>
                </a:solidFill>
              </a:rPr>
              <a:t>④ dequeue()</a:t>
            </a:r>
          </a:p>
        </p:txBody>
      </p:sp>
      <p:sp>
        <p:nvSpPr>
          <p:cNvPr id="619" name="QC619"/>
          <p:cNvSpPr/>
          <p:nvPr/>
        </p:nvSpPr>
        <p:spPr>
          <a:xfrm>
            <a:off x="72771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35</a:t>
            </a:r>
          </a:p>
        </p:txBody>
      </p:sp>
      <p:sp>
        <p:nvSpPr>
          <p:cNvPr id="620" name="QC620"/>
          <p:cNvSpPr/>
          <p:nvPr/>
        </p:nvSpPr>
        <p:spPr>
          <a:xfrm>
            <a:off x="78359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7</a:t>
            </a:r>
          </a:p>
        </p:txBody>
      </p:sp>
      <p:sp>
        <p:nvSpPr>
          <p:cNvPr id="621" name="QC621"/>
          <p:cNvSpPr/>
          <p:nvPr/>
        </p:nvSpPr>
        <p:spPr>
          <a:xfrm>
            <a:off x="8394700" y="3175000"/>
            <a:ext cx="558800" cy="508000"/>
          </a:xfrm>
          <a:prstGeom prst="rect">
            <a:avLst/>
          </a:prstGeom>
          <a:noFill/>
          <a:ln w="12700">
            <a:solidFill>
              <a:srgbClr val="B8C4CF"/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622" name="QT622"/>
          <p:cNvSpPr txBox="1"/>
          <p:nvPr/>
        </p:nvSpPr>
        <p:spPr>
          <a:xfrm>
            <a:off x="7162800" y="3886200"/>
            <a:ext cx="1905000" cy="558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12 반환 → [35, 7]</a:t>
            </a:r>
          </a:p>
        </p:txBody>
      </p:sp>
      <p:sp>
        <p:nvSpPr>
          <p:cNvPr id="623" name="QArrow623"/>
          <p:cNvSpPr/>
          <p:nvPr/>
        </p:nvSpPr>
        <p:spPr>
          <a:xfrm>
            <a:off x="9093200" y="3429000"/>
            <a:ext cx="177800" cy="0"/>
          </a:xfrm>
          <a:prstGeom prst="line">
            <a:avLst/>
          </a:prstGeom>
          <a:ln w="19050">
            <a:solidFill>
              <a:srgbClr val="5A6B7C"/>
            </a:solidFill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24" name="QT624"/>
          <p:cNvSpPr txBox="1"/>
          <p:nvPr/>
        </p:nvSpPr>
        <p:spPr>
          <a:xfrm>
            <a:off x="9271000" y="2667000"/>
            <a:ext cx="19050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600" b="1" dirty="0">
                <a:solidFill>
                  <a:srgbClr val="5B8C5A"/>
                </a:solidFill>
              </a:rPr>
              <a:t>⑤ enqueue(48)</a:t>
            </a:r>
          </a:p>
        </p:txBody>
      </p:sp>
      <p:sp>
        <p:nvSpPr>
          <p:cNvPr id="625" name="QC625"/>
          <p:cNvSpPr/>
          <p:nvPr/>
        </p:nvSpPr>
        <p:spPr>
          <a:xfrm>
            <a:off x="93853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35</a:t>
            </a:r>
          </a:p>
        </p:txBody>
      </p:sp>
      <p:sp>
        <p:nvSpPr>
          <p:cNvPr id="626" name="QC626"/>
          <p:cNvSpPr/>
          <p:nvPr/>
        </p:nvSpPr>
        <p:spPr>
          <a:xfrm>
            <a:off x="9944100" y="3175000"/>
            <a:ext cx="558800" cy="50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7</a:t>
            </a:r>
          </a:p>
        </p:txBody>
      </p:sp>
      <p:sp>
        <p:nvSpPr>
          <p:cNvPr id="627" name="QC627"/>
          <p:cNvSpPr/>
          <p:nvPr/>
        </p:nvSpPr>
        <p:spPr>
          <a:xfrm>
            <a:off x="10502900" y="3175000"/>
            <a:ext cx="558800" cy="508000"/>
          </a:xfrm>
          <a:prstGeom prst="rect">
            <a:avLst/>
          </a:prstGeom>
          <a:solidFill>
            <a:srgbClr val="E1EBDF"/>
          </a:solidFill>
          <a:ln w="19050">
            <a:solidFill>
              <a:srgbClr val="5B8C5A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31485E"/>
                </a:solidFill>
              </a:rPr>
              <a:t>48</a:t>
            </a:r>
          </a:p>
        </p:txBody>
      </p:sp>
      <p:sp>
        <p:nvSpPr>
          <p:cNvPr id="628" name="QT628"/>
          <p:cNvSpPr txBox="1"/>
          <p:nvPr/>
        </p:nvSpPr>
        <p:spPr>
          <a:xfrm>
            <a:off x="9271000" y="3886200"/>
            <a:ext cx="1905000" cy="558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[35, 7, 48]</a:t>
            </a:r>
          </a:p>
        </p:txBody>
      </p:sp>
      <p:sp>
        <p:nvSpPr>
          <p:cNvPr id="629" name="QT629"/>
          <p:cNvSpPr txBox="1"/>
          <p:nvPr/>
        </p:nvSpPr>
        <p:spPr>
          <a:xfrm>
            <a:off x="838200" y="4648200"/>
            <a:ext cx="10515600" cy="3048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ko-KR" sz="1400" dirty="0">
                <a:solidFill>
                  <a:srgbClr val="5A6B7C"/>
                </a:solidFill>
              </a:rPr>
              <a:t>왼쪽이 front, 오른쪽이 rear — 삽입은 rear에서, 삭제는 front에서 일어납니다</a:t>
            </a:r>
          </a:p>
        </p:txBody>
      </p:sp>
      <p:sp>
        <p:nvSpPr>
          <p:cNvPr id="630" name="Summary"/>
          <p:cNvSpPr txBox="1"/>
          <p:nvPr/>
        </p:nvSpPr>
        <p:spPr>
          <a:xfrm>
            <a:off x="838200" y="51816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</p:spPr>
        <p:txBody>
          <a:bodyPr lIns="182880" rIns="182880" anchor="ctr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enqueue는 rear에, dequeue는 front에서 일어나며 각 연산은 O(1)</a:t>
            </a:r>
          </a:p>
          <a:p>
            <a:pPr marL="228600" indent="-228600">
              <a:buFont typeface="Arial"/>
              <a:buChar char="•"/>
            </a:pPr>
            <a:r>
              <a:rPr lang="ko-KR" sz="1500" dirty="0">
                <a:solidFill>
                  <a:srgbClr val="31485E"/>
                </a:solidFill>
              </a:rPr>
              <a:t>dequeue()는 가장 먼저 enqueue된 값(12)을 반환 — FIFO(선입선출)</a:t>
            </a:r>
          </a:p>
        </p:txBody>
      </p:sp>
    </p:spTree>
    <p:extLst>
      <p:ext uri="{BB962C8B-B14F-4D97-AF65-F5344CB8AC3E}">
        <p14:creationId xmlns:p14="http://schemas.microsoft.com/office/powerpoint/2010/main" val="76463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5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45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45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5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45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45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45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5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45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45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45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45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" grpId="0"/>
      <p:bldP spid="601" grpId="0" animBg="1"/>
      <p:bldP spid="602" grpId="0" animBg="1"/>
      <p:bldP spid="603" grpId="0" animBg="1"/>
      <p:bldP spid="604" grpId="0"/>
      <p:bldP spid="605" grpId="0" animBg="1"/>
      <p:bldP spid="606" grpId="0"/>
      <p:bldP spid="607" grpId="0" animBg="1"/>
      <p:bldP spid="608" grpId="0" animBg="1"/>
      <p:bldP spid="609" grpId="0" animBg="1"/>
      <p:bldP spid="610" grpId="0"/>
      <p:bldP spid="611" grpId="0" animBg="1"/>
      <p:bldP spid="612" grpId="0"/>
      <p:bldP spid="613" grpId="0" animBg="1"/>
      <p:bldP spid="614" grpId="0" animBg="1"/>
      <p:bldP spid="615" grpId="0" animBg="1"/>
      <p:bldP spid="616" grpId="0"/>
      <p:bldP spid="617" grpId="0" animBg="1"/>
      <p:bldP spid="618" grpId="0"/>
      <p:bldP spid="619" grpId="0" animBg="1"/>
      <p:bldP spid="620" grpId="0" animBg="1"/>
      <p:bldP spid="621" grpId="0" animBg="1"/>
      <p:bldP spid="622" grpId="0"/>
      <p:bldP spid="623" grpId="0" animBg="1"/>
      <p:bldP spid="624" grpId="0"/>
      <p:bldP spid="625" grpId="0" animBg="1"/>
      <p:bldP spid="626" grpId="0" animBg="1"/>
      <p:bldP spid="627" grpId="0" animBg="1"/>
      <p:bldP spid="628" grpId="0"/>
      <p:bldP spid="629" grpId="0"/>
      <p:bldP spid="6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67CE7-CF30-E83B-2021-4B3A52C6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F6690"/>
                </a:solidFill>
              </a:rPr>
              <a:t>03</a:t>
            </a:r>
            <a:r>
              <a:rPr lang="ko-KR" sz="3200" b="1" dirty="0"/>
              <a:t>  큐의 활용 사례</a:t>
            </a:r>
          </a:p>
        </p:txBody>
      </p:sp>
      <p:sp>
        <p:nvSpPr>
          <p:cNvPr id="700" name="Card_프린터 대기열"/>
          <p:cNvSpPr/>
          <p:nvPr/>
        </p:nvSpPr>
        <p:spPr>
          <a:xfrm>
            <a:off x="8382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1" name="Header_프린터 대기열"/>
          <p:cNvSpPr txBox="1"/>
          <p:nvPr/>
        </p:nvSpPr>
        <p:spPr>
          <a:xfrm>
            <a:off x="16256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프린터 대기열</a:t>
            </a:r>
          </a:p>
        </p:txBody>
      </p:sp>
      <p:sp>
        <p:nvSpPr>
          <p:cNvPr id="702" name="Body_프린터 대기열"/>
          <p:cNvSpPr txBox="1"/>
          <p:nvPr/>
        </p:nvSpPr>
        <p:spPr>
          <a:xfrm>
            <a:off x="10668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먼저 요청된 문서부터 순서대로 인쇄 — 인쇄 작업 스풀링</a:t>
            </a:r>
          </a:p>
        </p:txBody>
      </p:sp>
      <p:sp>
        <p:nvSpPr>
          <p:cNvPr id="703" name="Card_BFS 탐색"/>
          <p:cNvSpPr/>
          <p:nvPr/>
        </p:nvSpPr>
        <p:spPr>
          <a:xfrm>
            <a:off x="44323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4" name="Header_BFS 탐색"/>
          <p:cNvSpPr txBox="1"/>
          <p:nvPr/>
        </p:nvSpPr>
        <p:spPr>
          <a:xfrm>
            <a:off x="52197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BFS 탐색</a:t>
            </a:r>
          </a:p>
        </p:txBody>
      </p:sp>
      <p:sp>
        <p:nvSpPr>
          <p:cNvPr id="705" name="Body_BFS 탐색"/>
          <p:cNvSpPr txBox="1"/>
          <p:nvPr/>
        </p:nvSpPr>
        <p:spPr>
          <a:xfrm>
            <a:off x="46609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그래프·트리를 가까운 정점부터 레벨 순서로 방문할 때 큐 사용</a:t>
            </a:r>
          </a:p>
        </p:txBody>
      </p:sp>
      <p:sp>
        <p:nvSpPr>
          <p:cNvPr id="706" name="Card_작업 스케줄링"/>
          <p:cNvSpPr/>
          <p:nvPr/>
        </p:nvSpPr>
        <p:spPr>
          <a:xfrm>
            <a:off x="8026400" y="19050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7" name="Header_작업 스케줄링"/>
          <p:cNvSpPr txBox="1"/>
          <p:nvPr/>
        </p:nvSpPr>
        <p:spPr>
          <a:xfrm>
            <a:off x="8813800" y="21082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작업 스케줄링</a:t>
            </a:r>
          </a:p>
        </p:txBody>
      </p:sp>
      <p:sp>
        <p:nvSpPr>
          <p:cNvPr id="708" name="Body_작업 스케줄링"/>
          <p:cNvSpPr txBox="1"/>
          <p:nvPr/>
        </p:nvSpPr>
        <p:spPr>
          <a:xfrm>
            <a:off x="8255000" y="26670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OS의 프로세스 준비 큐, 라운드 로빈 방식의 CPU 할당</a:t>
            </a:r>
          </a:p>
        </p:txBody>
      </p:sp>
      <p:sp>
        <p:nvSpPr>
          <p:cNvPr id="709" name="Card_메시지 큐"/>
          <p:cNvSpPr/>
          <p:nvPr/>
        </p:nvSpPr>
        <p:spPr>
          <a:xfrm>
            <a:off x="8382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10" name="Header_메시지 큐"/>
          <p:cNvSpPr txBox="1"/>
          <p:nvPr/>
        </p:nvSpPr>
        <p:spPr>
          <a:xfrm>
            <a:off x="16256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메시지 큐</a:t>
            </a:r>
          </a:p>
        </p:txBody>
      </p:sp>
      <p:sp>
        <p:nvSpPr>
          <p:cNvPr id="711" name="Body_메시지 큐"/>
          <p:cNvSpPr txBox="1"/>
          <p:nvPr/>
        </p:nvSpPr>
        <p:spPr>
          <a:xfrm>
            <a:off x="10668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서버 간 비동기 통신 버퍼 — Kafka, RabbitMQ 등 메시징 시스템</a:t>
            </a:r>
          </a:p>
        </p:txBody>
      </p:sp>
      <p:sp>
        <p:nvSpPr>
          <p:cNvPr id="712" name="Card_콜센터 대기"/>
          <p:cNvSpPr/>
          <p:nvPr/>
        </p:nvSpPr>
        <p:spPr>
          <a:xfrm>
            <a:off x="44323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13" name="Header_콜센터 대기"/>
          <p:cNvSpPr txBox="1"/>
          <p:nvPr/>
        </p:nvSpPr>
        <p:spPr>
          <a:xfrm>
            <a:off x="52197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콜센터 대기</a:t>
            </a:r>
          </a:p>
        </p:txBody>
      </p:sp>
      <p:sp>
        <p:nvSpPr>
          <p:cNvPr id="714" name="Body_콜센터 대기"/>
          <p:cNvSpPr txBox="1"/>
          <p:nvPr/>
        </p:nvSpPr>
        <p:spPr>
          <a:xfrm>
            <a:off x="46609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먼저 전화한 고객부터 상담원에게 순서대로 연결</a:t>
            </a:r>
          </a:p>
        </p:txBody>
      </p:sp>
      <p:sp>
        <p:nvSpPr>
          <p:cNvPr id="715" name="Card_스트리밍 버퍼링"/>
          <p:cNvSpPr/>
          <p:nvPr/>
        </p:nvSpPr>
        <p:spPr>
          <a:xfrm>
            <a:off x="8026400" y="4165600"/>
            <a:ext cx="3327400" cy="20320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16" name="Header_스트리밍 버퍼링"/>
          <p:cNvSpPr txBox="1"/>
          <p:nvPr/>
        </p:nvSpPr>
        <p:spPr>
          <a:xfrm>
            <a:off x="8813800" y="4368800"/>
            <a:ext cx="2336800" cy="431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sz="1600" b="1" dirty="0">
                <a:solidFill>
                  <a:srgbClr val="3F6B3E"/>
                </a:solidFill>
              </a:rPr>
              <a:t>스트리밍 버퍼링</a:t>
            </a:r>
          </a:p>
        </p:txBody>
      </p:sp>
      <p:sp>
        <p:nvSpPr>
          <p:cNvPr id="717" name="Body_스트리밍 버퍼링"/>
          <p:cNvSpPr txBox="1"/>
          <p:nvPr/>
        </p:nvSpPr>
        <p:spPr>
          <a:xfrm>
            <a:off x="8255000" y="4927600"/>
            <a:ext cx="2870200" cy="106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</a:pPr>
            <a:r>
              <a:rPr lang="ko-KR" sz="1400" dirty="0">
                <a:solidFill>
                  <a:srgbClr val="31485E"/>
                </a:solidFill>
              </a:rPr>
              <a:t>네트워크로 도착한 데이터를 순서대로 재생하는 버퍼에 활용</a:t>
            </a:r>
          </a:p>
        </p:txBody>
      </p:sp>
      <p:pic>
        <p:nvPicPr>
          <p:cNvPr id="718" name="Graphic 718" descr="프린터 대기열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108200"/>
            <a:ext cx="406400" cy="406400"/>
          </a:xfrm>
          <a:prstGeom prst="rect">
            <a:avLst/>
          </a:prstGeom>
        </p:spPr>
      </p:pic>
      <p:pic>
        <p:nvPicPr>
          <p:cNvPr id="719" name="Graphic 719" descr="BFS 탐색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0900" y="2108200"/>
            <a:ext cx="406400" cy="406400"/>
          </a:xfrm>
          <a:prstGeom prst="rect">
            <a:avLst/>
          </a:prstGeom>
        </p:spPr>
      </p:pic>
      <p:pic>
        <p:nvPicPr>
          <p:cNvPr id="720" name="Graphic 720" descr="작업 스케줄링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2108200"/>
            <a:ext cx="406400" cy="406400"/>
          </a:xfrm>
          <a:prstGeom prst="rect">
            <a:avLst/>
          </a:prstGeom>
        </p:spPr>
      </p:pic>
      <p:pic>
        <p:nvPicPr>
          <p:cNvPr id="721" name="Graphic 721" descr="메시지 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368800"/>
            <a:ext cx="406400" cy="406400"/>
          </a:xfrm>
          <a:prstGeom prst="rect">
            <a:avLst/>
          </a:prstGeom>
        </p:spPr>
      </p:pic>
      <p:pic>
        <p:nvPicPr>
          <p:cNvPr id="722" name="Graphic 722" descr="콜센터 대기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4368800"/>
            <a:ext cx="406400" cy="406400"/>
          </a:xfrm>
          <a:prstGeom prst="rect">
            <a:avLst/>
          </a:prstGeom>
        </p:spPr>
      </p:pic>
      <p:pic>
        <p:nvPicPr>
          <p:cNvPr id="723" name="Graphic 723" descr="스트리밍 버퍼링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4368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98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4455871296]">
  <a:themeElements>
    <a:clrScheme name="Office">
      <a:dk1>
        <a:srgbClr val="1F2A37"/>
      </a:dk1>
      <a:lt1>
        <a:srgbClr val="FBFAF7"/>
      </a:lt1>
      <a:dk2>
        <a:srgbClr val="31485E"/>
      </a:dk2>
      <a:lt2>
        <a:srgbClr val="EEF1F4"/>
      </a:lt2>
      <a:accent1>
        <a:srgbClr val="2F6690"/>
      </a:accent1>
      <a:accent2>
        <a:srgbClr val="5B8C5A"/>
      </a:accent2>
      <a:accent3>
        <a:srgbClr val="D08C60"/>
      </a:accent3>
      <a:accent4>
        <a:srgbClr val="3A7CA5"/>
      </a:accent4>
      <a:accent5>
        <a:srgbClr val="81A4CD"/>
      </a:accent5>
      <a:accent6>
        <a:srgbClr val="6D597A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5e10a4-d814-4ab3-a030-5cd32fe0c2e0}">
  <we:reference id="WA200010001" version="1.0.0.1" store="en-US" storeType="OMEX"/>
  <we:alternateReferences/>
  <we:properties>
    <we:property name="Microsoft.Office.CampaignId" value="&quot;none&quot;"/>
    <we:property name="claude.fileId" value="&quot;30372d29-eb0f-494f-a657-ffe05f5ddeb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1944</TotalTime>
  <Words>851</Words>
  <Application>Microsoft Office PowerPoint</Application>
  <PresentationFormat>와이드스크린</PresentationFormat>
  <Paragraphs>163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Georgia</vt:lpstr>
      <vt:lpstr>Segoe UI</vt:lpstr>
      <vt:lpstr>Office Theme [1784455871296]</vt:lpstr>
      <vt:lpstr>자료구조와 알고리즘</vt:lpstr>
      <vt:lpstr>목차</vt:lpstr>
      <vt:lpstr>강의 개요</vt:lpstr>
      <vt:lpstr>01  자료구조 개요와 알고리즘 분석</vt:lpstr>
      <vt:lpstr>02  배열과 연결 리스트</vt:lpstr>
      <vt:lpstr>03  스택과 큐</vt:lpstr>
      <vt:lpstr>03  스택 동작 시나리오 — Push / Pop</vt:lpstr>
      <vt:lpstr>03  스택의 활용 사례</vt:lpstr>
      <vt:lpstr>03  큐 동작 시나리오 — Enqueue / Dequeue</vt:lpstr>
      <vt:lpstr>03  큐의 활용 사례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jungin kim</cp:lastModifiedBy>
  <cp:revision>4</cp:revision>
  <dcterms:created xsi:type="dcterms:W3CDTF">2018-06-07T21:39:02Z</dcterms:created>
  <dcterms:modified xsi:type="dcterms:W3CDTF">2026-07-19T17:06:56Z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